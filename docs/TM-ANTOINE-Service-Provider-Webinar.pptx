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 BRIEFING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protect the portal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will work in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ANTOINE Advisory Portal   ·   Built in-house   ·   portal.tmantoinelaw.com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989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Webinar handout  ·  22 September 2026  ·  Version 1.0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984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2984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 on the internet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75564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domain, the staging mailbox, built in-house.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09728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12984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12984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may enter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175564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access types. Invitation is not enough.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69748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8986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28986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lock the door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335584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today. Authenticator after this session.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269748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37960" y="28986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8986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copies, encryption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35584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and images. Three copies. Plain-English encryption.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429768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4988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783080" y="44988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when it breaks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783080" y="495604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Bespoke AI, Messages, support@tmantoinelaw.com.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429768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37960" y="44988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589520" y="44988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for your file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4956048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compliance teams have already sent.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51052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ANTOINE Advisory Portal  ·  Confidential  ·  22 September 2026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0" y="6510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the real portal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firm. Two addresses that used to confuse people. Live work is only on tmantoinelaw.com.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5532120" cy="3246120"/>
          </a:xfrm>
          <a:prstGeom prst="roundRect">
            <a:avLst>
              <a:gd name="adj" fmla="val 2254"/>
            </a:avLst>
          </a:prstGeom>
          <a:solidFill>
            <a:srgbClr val="0E28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portal.tmantoinelaw.com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portal@tmantoinelaw.com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support@tmantoinelaw.com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532120" cy="3246120"/>
          </a:xfrm>
          <a:prstGeom prst="roundRect">
            <a:avLst>
              <a:gd name="adj" fmla="val 2254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29400" y="16916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— do not use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24028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support@tmantoine.com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the staging mailbox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live contact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9377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in-house. Not a white-label product. There is no underlying portal vendor to name.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4406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address bar is not portal.tmantoinelaw.com, stop. Write to support before you type a code.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51052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ANTOINE Advisory Portal  ·  Confidential  ·  22 September 2026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0" y="6510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kinds of access</a:t>
            </a:r>
            <a:endParaRPr lang="en-US" sz="3200" dirty="0"/>
          </a:p>
        </p:txBody>
      </p:sp>
      <p:pic>
        <p:nvPicPr>
          <p:cNvPr id="4" name="Image 0" descr="/Users/vernonfrancis/Github/TMA-PORTAL/docs/service-provider-briefing/assets/chart-a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68680"/>
            <a:ext cx="7589520" cy="310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38160" y="1051560"/>
            <a:ext cx="3566160" cy="2926080"/>
          </a:xfrm>
          <a:prstGeom prst="roundRect">
            <a:avLst>
              <a:gd name="adj" fmla="val 2500"/>
            </a:avLst>
          </a:prstGeom>
          <a:solidFill>
            <a:srgbClr val="0E284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366760" y="1280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firm uses two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7373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 — works every CIP file for the company, not only ones they created.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provider admin — invites and removes people at your firm. TM ANTOINE still approves each new account.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42976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/ reviewing officer and Administrator belong to TM ANTOINE. No service-provider person is a portal administrator.</a:t>
            </a:r>
            <a:endParaRPr lang="en-US" sz="1600" dirty="0"/>
          </a:p>
        </p:txBody>
      </p:sp>
      <p:pic>
        <p:nvPicPr>
          <p:cNvPr id="9" name="Image 1" descr="/Users/vernonfrancis/Github/TMA-PORTAL/docs/service-provider-briefing/assets/chart-account-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892040"/>
            <a:ext cx="11338560" cy="1417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02920" y="651052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ANTOINE Advisory Portal  ·  Confidential  ·  22 September 2026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0515600" y="6510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16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Sign-in today  ·  authenticator after this session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5532120" cy="5074920"/>
          </a:xfrm>
          <a:prstGeom prst="roundRect">
            <a:avLst>
              <a:gd name="adj" fmla="val 1441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1430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4630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dual check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65960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sign-in from a known setup uses email. If the device changes, a six-digit code is sent only to the address already on the account. Nobody can redirect that code.</a:t>
            </a:r>
            <a:endParaRPr lang="en-US" sz="1600" dirty="0"/>
          </a:p>
        </p:txBody>
      </p:sp>
      <p:pic>
        <p:nvPicPr>
          <p:cNvPr id="8" name="Image 0" descr="/Users/vernonfrancis/Github/TMA-PORTAL/docs/service-provider-briefing/assets/03-login-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383280"/>
            <a:ext cx="4434840" cy="2331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63640" y="960120"/>
            <a:ext cx="5440680" cy="5074920"/>
          </a:xfrm>
          <a:prstGeom prst="roundRect">
            <a:avLst>
              <a:gd name="adj" fmla="val 1441"/>
            </a:avLst>
          </a:prstGeom>
          <a:solidFill>
            <a:srgbClr val="0E284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37960" y="11430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WEBINAR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14630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Authenticator required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537960" y="201168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service-provider account will connect an authenticator app. A new six-digit number every thirty seconds, on your phone. Password plus email is no longer enough.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3611880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 →  Account Security  →  Authenticator app  →  scan the QR code. Keep recovery codes offline. Never send a code in chat.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651052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ANTOINE Advisory Portal  ·  Confidential  ·  22 September 2026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0515600" y="6510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portal is not open to the whole map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058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the countries where our service-provider clients operate. We refuse the rest, including North Korea, South Korea, and Russia. The country is read at the edge, before sign-in.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11155680" cy="1078992"/>
          </a:xfrm>
          <a:prstGeom prst="roundRect">
            <a:avLst>
              <a:gd name="adj" fmla="val 6780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331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3317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where our provider firms actually work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3246120"/>
            <a:ext cx="11155680" cy="1078992"/>
          </a:xfrm>
          <a:prstGeom prst="roundRect">
            <a:avLst>
              <a:gd name="adj" fmla="val 6780"/>
            </a:avLst>
          </a:prstGeom>
          <a:solidFill>
            <a:srgbClr val="0E284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3566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35661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Korea, South Korea, Russia, and other non-client locations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" y="4480560"/>
            <a:ext cx="11155680" cy="1078992"/>
          </a:xfrm>
          <a:prstGeom prst="roundRect">
            <a:avLst>
              <a:gd name="adj" fmla="val 6780"/>
            </a:avLst>
          </a:prstGeom>
          <a:solidFill>
            <a:srgbClr val="F4F6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800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4800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Anonymising proxies can be refused — turn them off if the page asks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51052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ANTOINE Advisory Portal  ·  Confidential  ·  22 September 2026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0" y="6510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/  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layers, not one lock</a:t>
            </a:r>
            <a:endParaRPr lang="en-US" sz="3200" dirty="0"/>
          </a:p>
        </p:txBody>
      </p:sp>
      <p:pic>
        <p:nvPicPr>
          <p:cNvPr id="4" name="Image 0" descr="/Users/vernonfrancis/Github/TMA-PORTAL/docs/service-provider-briefing/assets/chart-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68680"/>
            <a:ext cx="11430000" cy="5212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651052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ANTOINE Advisory Portal  ·  Confidential  ·  22 September 2026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0515600" y="6510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Encryption, in ordinary words</a:t>
            </a:r>
            <a:endParaRPr lang="en-US" sz="3200" dirty="0"/>
          </a:p>
        </p:txBody>
      </p:sp>
      <p:pic>
        <p:nvPicPr>
          <p:cNvPr id="4" name="Image 0" descr="/Users/vernonfrancis/Github/TMA-PORTAL/docs/service-provider-briefing/assets/chart-encryp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914400"/>
            <a:ext cx="11338560" cy="4160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5212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Intercepting tools on the network can see that traffic exists. They cannot read it. API keys never leave the server. Bespoke AI cannot see them.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651052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ANTOINE Advisory Portal  ·  Confidential  ·  22 September 2026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515600" y="6510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may be uploaded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or image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 files. The portal reads the bytes, not just the name.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43400" y="105156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0E28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0" y="13716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5–10 MB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7432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upload links. No room for a giant hidden payload.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83880" y="1051560"/>
            <a:ext cx="3611880" cy="3200400"/>
          </a:xfrm>
          <a:prstGeom prst="roundRect">
            <a:avLst>
              <a:gd name="adj" fmla="val 2286"/>
            </a:avLst>
          </a:prstGeom>
          <a:solidFill>
            <a:srgbClr val="F4F6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0" y="13716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Malware scan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74320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scan cannot be opened or downloaded.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48056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renamed program posing as a PDF is refused. Do not zip software into an application folder.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50292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still hardening this door. Size limits and type checks are in place. Independent testing is still to come.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51052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ANTOINE Advisory Portal  ·  Confidential  ·  22 September 2026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0" y="6510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/  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lives  ·  how it comes back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686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and database run together on Laravel Cloud (AWS, United States). Cloudflare in front. Documents in a private store, mirrored to Microsoft 365.</a:t>
            </a:r>
            <a:endParaRPr lang="en-US" sz="1600" dirty="0"/>
          </a:p>
        </p:txBody>
      </p:sp>
      <p:pic>
        <p:nvPicPr>
          <p:cNvPr id="5" name="Image 0" descr="/Users/vernonfrancis/Github/TMA-PORTAL/docs/service-provider-briefing/assets/chart-ba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08760"/>
            <a:ext cx="6035040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92240" y="1600200"/>
            <a:ext cx="5166360" cy="932688"/>
          </a:xfrm>
          <a:prstGeom prst="roundRect">
            <a:avLst>
              <a:gd name="adj" fmla="val 7843"/>
            </a:avLst>
          </a:prstGeom>
          <a:solidFill>
            <a:srgbClr val="F4F6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720840" y="17099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+ R2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720840" y="2039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files you open while you work.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92240" y="2651760"/>
            <a:ext cx="5166360" cy="932688"/>
          </a:xfrm>
          <a:prstGeom prst="roundRect">
            <a:avLst>
              <a:gd name="adj" fmla="val 7843"/>
            </a:avLst>
          </a:prstGeom>
          <a:solidFill>
            <a:srgbClr val="F4F6F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720840" y="27614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720840" y="30906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portal is down, the document set is still in Microsoft 365.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92240" y="3703320"/>
            <a:ext cx="5166360" cy="932688"/>
          </a:xfrm>
          <a:prstGeom prst="roundRect">
            <a:avLst>
              <a:gd name="adj" fmla="val 7843"/>
            </a:avLst>
          </a:prstGeom>
          <a:solidFill>
            <a:srgbClr val="F4F6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720840" y="38130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backup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720840" y="41422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once-a-day copy of the site with the host.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92240" y="4754880"/>
            <a:ext cx="5166360" cy="932688"/>
          </a:xfrm>
          <a:prstGeom prst="roundRect">
            <a:avLst>
              <a:gd name="adj" fmla="val 7843"/>
            </a:avLst>
          </a:prstGeom>
          <a:solidFill>
            <a:srgbClr val="F4F6F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720840" y="486460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51937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what, and when. Not editable by users.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651052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ANTOINE Advisory Portal  ·  Confidential  ·  22 September 2026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0515600" y="6510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Bespoke AI first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601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this portal. Workflows, missing fields, who to write to. It does not know other firms' files. It does not know API keys.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532120" cy="1783080"/>
          </a:xfrm>
          <a:prstGeom prst="roundRect">
            <a:avLst>
              <a:gd name="adj" fmla="val 4103"/>
            </a:avLst>
          </a:prstGeom>
          <a:solidFill>
            <a:srgbClr val="F4F6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3911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Pre-Approval move from one step to the next?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532120" cy="1783080"/>
          </a:xfrm>
          <a:prstGeom prst="roundRect">
            <a:avLst>
              <a:gd name="adj" fmla="val 4103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0" y="203911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file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5146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still missing on the application I have open?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532120" cy="1783080"/>
          </a:xfrm>
          <a:prstGeom prst="roundRect">
            <a:avLst>
              <a:gd name="adj" fmla="val 4103"/>
            </a:avLst>
          </a:prstGeom>
          <a:solidFill>
            <a:srgbClr val="F4F6F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4005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48056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 I speak with if the portal errors?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09360" y="3749040"/>
            <a:ext cx="5532120" cy="1783080"/>
          </a:xfrm>
          <a:prstGeom prst="roundRect">
            <a:avLst>
              <a:gd name="adj" fmla="val 4103"/>
            </a:avLst>
          </a:prstGeom>
          <a:solidFill>
            <a:srgbClr val="0E284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0" y="40050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448056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paste passwords or authenticator codes into the assistant.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51052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ANTOINE Advisory Portal  ·  Confidential  ·  22 September 2026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0" y="6510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portal is 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0E28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1430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support@tmantoinelaw.com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TM ANTOINE administrators. Target reply: within an hour, pending availability. Primary contact: Vernon Francis.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2880360"/>
            <a:ext cx="2414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Vernon Francis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3794760"/>
            <a:ext cx="2414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technical contact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265176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47872" y="2880360"/>
            <a:ext cx="2414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Cindy McLean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47872" y="3794760"/>
            <a:ext cx="2414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 ·  email or Messages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265176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28232" y="2880360"/>
            <a:ext cx="2414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McLean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28232" y="3794760"/>
            <a:ext cx="2414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 ·  email or Messages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0" y="265176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08592" y="2880360"/>
            <a:ext cx="2414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Manru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308592" y="3794760"/>
            <a:ext cx="2414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 ·  email or Messages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846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page, the account email, and the CIP number. Never send a sign-in or authenticator code.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53035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inside the portal is equally valid when you can still sign in.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51052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ANTOINE Advisory Portal  ·  Confidential  ·  22 September 2026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0" y="6510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16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your compliance file  ·  security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777240"/>
            <a:ext cx="11155680" cy="658368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9418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9418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Cloud on AWS, United States, plus Cloudflare.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111556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6733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16733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in transit. Ciphertext at rest in the vault and R2.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11155680" cy="658368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4048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4048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code on a new device now. Authenticator required after this webinar.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111556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31363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members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1363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application for the company, not only their own.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703320"/>
            <a:ext cx="11155680" cy="658368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8679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/ ISO / SOC 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38679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testing planned, not yet complete. No ISO 27001 or SOC 2 today.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4434840"/>
            <a:ext cx="111556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45994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0" y="4599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store, SharePoint mirror, daily host backup.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5166360"/>
            <a:ext cx="11155680" cy="658368"/>
          </a:xfrm>
          <a:prstGeom prst="roundRect">
            <a:avLst>
              <a:gd name="adj" fmla="val 8333"/>
            </a:avLst>
          </a:prstGeom>
          <a:solidFill>
            <a:srgbClr val="F4F6F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53309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53309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what, when, including document activity.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51052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ANTOINE Advisory Portal  ·  Confidential  ·  22 September 2026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0" y="6510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your compliance file  · 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5532120" cy="1536192"/>
          </a:xfrm>
          <a:prstGeom prst="roundRect">
            <a:avLst>
              <a:gd name="adj" fmla="val 4762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58952" y="1143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5087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pending review by our legal team. Your paper or ours.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960120"/>
            <a:ext cx="5532120" cy="1536192"/>
          </a:xfrm>
          <a:prstGeom prst="roundRect">
            <a:avLst>
              <a:gd name="adj" fmla="val 4762"/>
            </a:avLst>
          </a:prstGeom>
          <a:solidFill>
            <a:srgbClr val="F4F6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65392" y="1143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65392" y="15087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CIU, NIC, and Immigration need. Same practice as before the portal. SCCs where legal review says they apply.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651760"/>
            <a:ext cx="5532120" cy="1536192"/>
          </a:xfrm>
          <a:prstGeom prst="roundRect">
            <a:avLst>
              <a:gd name="adj" fmla="val 4762"/>
            </a:avLst>
          </a:prstGeom>
          <a:solidFill>
            <a:srgbClr val="F4F6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58952" y="2834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32004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the file unless the applicant asks us to delete it after the case is closed.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2651760"/>
            <a:ext cx="5532120" cy="1536192"/>
          </a:xfrm>
          <a:prstGeom prst="roundRect">
            <a:avLst>
              <a:gd name="adj" fmla="val 4762"/>
            </a:avLst>
          </a:prstGeom>
          <a:solidFill>
            <a:srgbClr val="F4F6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65392" y="2834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Sub-processors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32004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Laravel Cloud (USA), Cloudflare including R2, Microsoft 365 / SharePoint.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4343400"/>
            <a:ext cx="5532120" cy="1536192"/>
          </a:xfrm>
          <a:prstGeom prst="roundRect">
            <a:avLst>
              <a:gd name="adj" fmla="val 4762"/>
            </a:avLst>
          </a:prstGeom>
          <a:solidFill>
            <a:srgbClr val="F4F6F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58952" y="4526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" y="48920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being finalised. Confirmed personal-data incidents: notify affected firms without delay.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4343400"/>
            <a:ext cx="5532120" cy="1536192"/>
          </a:xfrm>
          <a:prstGeom prst="roundRect">
            <a:avLst>
              <a:gd name="adj" fmla="val 4762"/>
            </a:avLst>
          </a:prstGeom>
          <a:solidFill>
            <a:srgbClr val="F4F6F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65392" y="4526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leaving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565392" y="48920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admin removes them that day. TM ANTOINE is notified. We still approve every new account.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51052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ANTOINE Advisory Portal  ·  Confidential  ·  22 September 2026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0" y="6510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/  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65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this session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502920" cy="502920"/>
          </a:xfrm>
          <a:prstGeom prst="ellipse">
            <a:avLst/>
          </a:prstGeom>
          <a:solidFill>
            <a:srgbClr val="0E28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15214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1155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your service-provider administrator if you have not.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1883664"/>
            <a:ext cx="502920" cy="502920"/>
          </a:xfrm>
          <a:prstGeom prst="ellipse">
            <a:avLst/>
          </a:prstGeom>
          <a:solidFill>
            <a:srgbClr val="0E28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95681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920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 authenticator app on every account you will use.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2920" y="2688336"/>
            <a:ext cx="502920" cy="502920"/>
          </a:xfrm>
          <a:prstGeom prst="ellipse">
            <a:avLst/>
          </a:prstGeom>
          <a:solidFill>
            <a:srgbClr val="0E28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2920" y="27614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72491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portal.tmantoinelaw.com. Treat any other host as suspect.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2920" y="3493008"/>
            <a:ext cx="502920" cy="502920"/>
          </a:xfrm>
          <a:prstGeom prst="ellipse">
            <a:avLst/>
          </a:prstGeom>
          <a:solidFill>
            <a:srgbClr val="0E284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5661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52958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Bespoke AI for how-the-screen-works questions.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2920" y="4297680"/>
            <a:ext cx="502920" cy="502920"/>
          </a:xfrm>
          <a:prstGeom prst="ellipse">
            <a:avLst/>
          </a:prstGeom>
          <a:solidFill>
            <a:srgbClr val="0E28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437083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33425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support@tmantoinelaw.com or Messages for faults — never for codes.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02920" y="5102352"/>
            <a:ext cx="502920" cy="502920"/>
          </a:xfrm>
          <a:prstGeom prst="ellipse">
            <a:avLst/>
          </a:prstGeom>
          <a:solidFill>
            <a:srgbClr val="0E284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02920" y="51755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51389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this briefing with your compliance papers.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510528"/>
            <a:ext cx="9326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 ANTOINE Advisory Portal  ·  Confidential  ·  22 September 2026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0" y="6510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/  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5544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would rather walk it through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 leave a gap on your file.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747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support@tmantoinelaw.com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Vernon Francis  ·  Cindy McLean  ·  Emmanuel McLean  ·  Krishna Manru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copy of this briefing will follow by email.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Provider Portal Briefing</dc:title>
  <dc:subject>Security, access, and support for the TM ANTOINE Advisory Portal</dc:subject>
  <dc:creator>TM ANTOINE Partners &amp; Advisors</dc:creator>
  <cp:lastModifiedBy>TM ANTOINE Partners &amp; Advisors</cp:lastModifiedBy>
  <cp:revision>1</cp:revision>
  <dcterms:created xsi:type="dcterms:W3CDTF">2026-09-22T07:34:10Z</dcterms:created>
  <dcterms:modified xsi:type="dcterms:W3CDTF">2026-09-22T07:34:10Z</dcterms:modified>
</cp:coreProperties>
</file>