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Control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87552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briefing explains how the TM ANTOINE Advisory Portal is built, who may use it, and how we protect service-provider firms and their clients.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155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Detail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 title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Provider Portal Briefing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Subtitle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Security, access, and answers for firms using the portal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 ANTOINE Advisory Portal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https://portal.tmantoinelaw.com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support@tmantoinelaw.com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Version / date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  ·  22 September 2026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Prepared for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Service-provider firms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Confidential — intended recipients only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/  16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24128"/>
          <a:ext cx="11155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Authenticity and the two domains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can enter the portal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a person at your firm gets an account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Sign-in today, authenticator after this webinar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the portal may be used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we protect the connection and the files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may be uploaded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things live, and how they come back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Bespoke 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something goes wrong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Questions already asked — security and data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ask of you after the webinar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/  16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Authenticity and the two domains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8755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firm. Two addresses that used to confuse people. Live work is only on tmantoinelaw.com. The portal is built in-house. There is no white-label vendor to name.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1115568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98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may see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portal.tmantoinelaw.com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live portal. Bookmark this.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portal@tmantoinelaw.com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correct mailbox for portal mail from TM ANTOINE.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support@tmantoinelaw.com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Support. Shared with TM ANTOINE administrators.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support@tmantoine.com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Used for staging. Do not treat it as the live contact.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02920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the address bar is not portal.tmantoinelaw.com, stop. Write to support before you type a password or a code.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/  16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can enter the portal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kinds of access. Service-provider people only ever hold the first two. The last two belong to TM ANTOINE.</a:t>
            </a:r>
            <a:endParaRPr lang="en-US" sz="1500" dirty="0"/>
          </a:p>
        </p:txBody>
      </p:sp>
      <p:pic>
        <p:nvPicPr>
          <p:cNvPr id="7" name="Image 0" descr="/Users/vernonfrancis/Github/TMA-PORTAL/docs/service-provider-briefing/assets/chart-ac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1155680" cy="44348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02920" y="59436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The four account types. Your firm uses Service provider and Service provider admin.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/  16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person at your firm gets an account</a:t>
            </a:r>
            <a:endParaRPr lang="en-US" sz="2400" dirty="0"/>
          </a:p>
        </p:txBody>
      </p:sp>
      <p:pic>
        <p:nvPicPr>
          <p:cNvPr id="6" name="Image 0" descr="/Users/vernonfrancis/Github/TMA-PORTAL/docs/service-provider-briefing/assets/chart-account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14400"/>
            <a:ext cx="11338560" cy="228600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91840"/>
          <a:ext cx="11155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two sentences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provider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named person at your firm. They can open every CIP application that belongs to your company, not only the ones they created.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provider admin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Invites and removes people at your firm. Cannot register a new firm or promote someone else to this role.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 / reviewing officer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TM ANTOINE officer who reviews files. They are not a member of your firm.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TM ANTOINE administrator. Approves new accounts. No service-provider person holds this role.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/  16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sign-in works today, and what changes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6012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a dual check. First sign-in from a known setup uses email. If the device changes, a six-digit code is sent only to the address already on the account.</a:t>
            </a:r>
            <a:endParaRPr lang="en-US" sz="1500" dirty="0"/>
          </a:p>
        </p:txBody>
      </p:sp>
      <p:pic>
        <p:nvPicPr>
          <p:cNvPr id="7" name="Image 0" descr="/Users/vernonfrancis/Github/TMA-PORTAL/docs/service-provider-briefing/assets/03-login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5120640" cy="2880360"/>
          </a:xfrm>
          <a:prstGeom prst="rect">
            <a:avLst/>
          </a:prstGeom>
        </p:spPr>
      </p:pic>
      <p:pic>
        <p:nvPicPr>
          <p:cNvPr id="8" name="Image 1" descr="/Users/vernonfrancis/Github/TMA-PORTAL/docs/service-provider-briefing/assets/28-two-st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00200"/>
            <a:ext cx="5715000" cy="2880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5720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2. Email code today.   Figure 3. Settings → Account Security → Authenticator app.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98348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 this webinar every service-provider account must connect an authenticator app. Password plus email will no longer be enough. Keep recovery codes offline. Never send a code in chat.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2" name="Text 7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/  16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portal may be used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8755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is limited to countries where TM ANTOINE's service-provider clients actually operate. The country is read at the network edge, before a session is created.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11155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means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Allowed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Countries where our provider firms actually work.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Refused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 Korea, South Korea, Russia, and other non-client locations.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VPN / proxy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Anonymising connections can be refused. Turn a VPN off if the page asks.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43484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Geography is one control beside passwords, codes, and roles. It is not the whole of security.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 /  16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protect the connection and the files</a:t>
            </a:r>
            <a:endParaRPr lang="en-US" sz="2400" dirty="0"/>
          </a:p>
        </p:txBody>
      </p:sp>
      <p:pic>
        <p:nvPicPr>
          <p:cNvPr id="6" name="Image 0" descr="/Users/vernonfrancis/Github/TMA-PORTAL/docs/service-provider-briefing/assets/chart-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05840"/>
            <a:ext cx="10881360" cy="4846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59436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4. Six layers. None of them is enough on its own.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 /  16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Encryption, in ordinary words</a:t>
            </a:r>
            <a:endParaRPr lang="en-US" sz="2400" dirty="0"/>
          </a:p>
        </p:txBody>
      </p:sp>
      <p:pic>
        <p:nvPicPr>
          <p:cNvPr id="6" name="Image 0" descr="/Users/vernonfrancis/Github/TMA-PORTAL/docs/service-provider-briefing/assets/chart-encryp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11155680" cy="393192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12064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HONESTY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Independent testing is planned and has not been completed. We do not hold ISO 27001 or SOC 2. Treat this as a description of what is built, not as a certificate.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 /  16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may be uploaded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8755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CIP application uploads are PDF files or images. The portal reads the first bytes of the file. A renamed program posing as a PDF is refused.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111556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63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means for you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PDF or image for CIP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not zip executables into an application folder and hope the name looks harmless.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5–10 MB on request links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a very large scan rather than sending a 200 MB archive.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Malware scan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file that fails the scan cannot be opened or downloaded.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66344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are still hardening this door. Size limits and type checks are in place. Independent testing is still to come.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/  16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things live, and how they come back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6012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application and its database run together on Laravel Cloud (AWS, United States). Cloudflare in front. Documents in a private store, mirrored to Microsoft 365.</a:t>
            </a:r>
            <a:endParaRPr lang="en-US" sz="1500" dirty="0"/>
          </a:p>
        </p:txBody>
      </p:sp>
      <p:pic>
        <p:nvPicPr>
          <p:cNvPr id="7" name="Image 0" descr="/Users/vernonfrancis/Github/TMA-PORTAL/docs/service-provider-briefing/assets/chart-ba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554480"/>
            <a:ext cx="5212080" cy="402336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1691640"/>
          <a:ext cx="62636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794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is for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 store (R2)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files you open while you work. Encrypted at rest.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Microsoft 365 / SharePoint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the portal is down, the document set is still in SharePoint.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Daily host backup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once-a-day copy of the site, for disaster recovery of the application.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log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did what, and when. Users cannot edit that record.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/  16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Bespoke AI — use it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8755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portal includes a built-in assistant. It answers questions about this portal: how a workflow moves, which field is required, who to write to. It cannot see other firms' files. It cannot see API keys.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55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 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Workflow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does Pre-Approval move from one step to the next?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This file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is still missing on the application I have open?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People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do I speak with if the portal errors?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not paste passwords or authenticator codes into the assistant.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02920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you are stuck, ask Bespoke AI before you wait on email. For a true outage, write to support@tmantoinelaw.com.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/  16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something goes wrong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6012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to support@tmantoinelaw.com. That mailbox is shared with TM ANTOINE administrators. Target response is within an hour, pending availability. Primary technical contact: Vernon Francis.</a:t>
            </a:r>
            <a:endParaRPr lang="en-US" sz="1500" dirty="0"/>
          </a:p>
        </p:txBody>
      </p:sp>
      <p:pic>
        <p:nvPicPr>
          <p:cNvPr id="7" name="Image 0" descr="/Users/vernonfrancis/Github/TMA-PORTAL/docs/service-provider-briefing/assets/11-messag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91640"/>
            <a:ext cx="5212080" cy="30632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691640"/>
          <a:ext cx="58521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566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 in support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Vernon Francis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Primary technical contact for portal faults.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Cindy McLean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Administrator. Email or Messages.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Emmanuel McLean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Administrator. Email or Messages.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Krishna Manru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Administrator. Email or Messages.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02920" y="489204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5. Built-in Messages, when you can still sign in.</a:t>
            </a:r>
            <a:endParaRPr lang="en-US" sz="12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25780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Include the page, the account email, and the CIP number. Never include a sign-in code or an authenticator code.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12" name="Text 7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/  16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compliance file — security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11155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955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Laravel Cloud on AWS, United States, plus Cloudflare.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Encryption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TLS in transit. Ciphertext at rest in the vault and R2.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MFA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Email code on a new device now. Authenticator required after this webinar.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Company members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every application for the company, not only their own.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Testing / ISO / SOC 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Independent testing planned, not yet complete. No ISO 27001 or SOC 2 today.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Backup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 store, SharePoint mirror, daily host backup.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did what, when, including document activity.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/  16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compliance file — data and operations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11155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— pending review by our legal team. Your paper or ours.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Transfers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what CIU, NIC, and Immigration need. Same practice as before the portal.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keep the file unless the applicant asks us to delete it after the case is closed.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Sub-processors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 / Laravel Cloud (USA), Cloudflare including R2, Microsoft 365 / SharePoint.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Playbook being finalised. Confirmed incidents: notify affected firms without delay.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 leaving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admin removes them that day. TM ANTOINE is notified, and still approves every new account.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 /  16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011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ANTOINE Advisory Portal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20116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Portal Briefing  ·  Confidential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75488"/>
            <a:ext cx="11155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ask of you after the webinar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51560"/>
          <a:ext cx="11155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 your service-provider administrator if you have not.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Connect an authenticator app on every account you will use.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Bookmark portal.tmantoinelaw.com. Treat any other host as suspect.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Bespoke AI for how-the-screen-works questions.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support@tmantoinelaw.com or Messages for faults — never for codes.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 this briefing with your compliance papers.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07492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509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written copy of this briefing will follow by email. We would rather walk remaining points through on a call than leave a gap on your file.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02920" y="6528816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intended recipients only  ·  22 September 2026  ·  Version 1.0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424160" y="6528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 /  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Service Provider Portal Briefing</dc:title>
  <dc:subject>Security, access, and support for the TM ANTOINE Advisory Portal</dc:subject>
  <dc:creator>TM ANTOINE Partners &amp; Advisors</dc:creator>
  <cp:lastModifiedBy>TM ANTOINE Partners &amp; Advisors</cp:lastModifiedBy>
  <cp:revision>1</cp:revision>
  <dcterms:created xsi:type="dcterms:W3CDTF">2026-09-22T07:53:27Z</dcterms:created>
  <dcterms:modified xsi:type="dcterms:W3CDTF">2026-09-22T07:53:27Z</dcterms:modified>
</cp:coreProperties>
</file>